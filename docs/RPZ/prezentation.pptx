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0" r:id="rId4"/>
    <p:sldId id="264" r:id="rId5"/>
    <p:sldId id="269" r:id="rId6"/>
    <p:sldId id="270" r:id="rId7"/>
    <p:sldId id="271" r:id="rId8"/>
    <p:sldId id="272" r:id="rId9"/>
    <p:sldId id="268" r:id="rId10"/>
    <p:sldId id="273" r:id="rId11"/>
    <p:sldId id="274" r:id="rId12"/>
    <p:sldId id="263" r:id="rId13"/>
    <p:sldId id="27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BBC70-4D7F-43C0-8B99-95A019A0FA32}" type="datetimeFigureOut">
              <a:rPr lang="ru-RU" smtClean="0"/>
              <a:t>27.05.2025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E82BE-8AEA-4ADC-8575-EDB0F3FEDA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42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E82BE-8AEA-4ADC-8575-EDB0F3FEDA7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67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67187-C92B-6116-5E90-0F86CC755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5857EE-9F80-671E-0F99-9FA96B3EB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D34116-3766-342D-2834-EC80FA4C9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0499-6B72-4624-98DD-FB12730C06CB}" type="datetime1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8F2694-A5E4-6219-CE68-31BDF3D4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4BBA06-9DDF-6638-67C3-7D542EFA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927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E0F27-499B-8A6B-1D66-A9272AC9B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B5C0D-C96C-8A33-ADC5-D03E88C08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CDCF5C-52E1-D6CC-195A-9699E965A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D160-7A59-4366-9D1D-6B9600899174}" type="datetime1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02855F-822E-7693-FC9B-6F05AACF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21B37-06E8-199F-5085-069E20A8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24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623D3-422A-6BD8-7B22-338143944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2C20FA-58A9-D604-2B85-4E3578EFF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06AD4A-CE0F-60FC-8560-94561861F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00D-C0BE-430E-ACD1-7C7418090EDB}" type="datetime1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E13F41-8AE1-F927-BA89-CD823C8F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3FF87A-6320-80AE-EE65-19695164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053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3E9BA-C04C-8343-0386-11FAFEF9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1BCEA4-D38A-9468-B044-0925D341E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E5DC7C-7F8D-0AC8-6C92-68D692DAF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E250DA-1DBA-A4F8-8B50-B05FB457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AB06C-6D3A-4449-BF9D-3DE91090C2C3}" type="datetime1">
              <a:rPr lang="ru-RU" smtClean="0"/>
              <a:t>27.05.2025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971B60-6452-6428-C29D-5D5D4E89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3735F6-B948-3279-E174-15251F71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42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D888D-E64C-C78C-941F-79D212C8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A7B476-EDC3-0EB4-FF4A-A55E602F2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3B6972-DAC3-F15F-62AB-9B52C3FE3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C4912B3-BC80-B4CC-5A46-50F50F8DC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AB6ADF6-A426-7B10-21D3-ACB0E435F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81B74F-B037-8133-C328-5A624D302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979E-52DA-4732-A98A-852D48297DF9}" type="datetime1">
              <a:rPr lang="ru-RU" smtClean="0"/>
              <a:t>27.05.2025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796E7-3680-5B98-0851-7B215FAA6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B35ABD4-FE35-35EE-8786-EEE2C70D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618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E15-F5FD-B12C-6499-24CF25E7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488D32E-23C1-FC77-720E-156B7F79A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03D7B-8C86-4DAF-8E39-D0D65F2F8AE0}" type="datetime1">
              <a:rPr lang="ru-RU" smtClean="0"/>
              <a:t>27.05.2025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48AE9A2-44DF-55A8-B15E-44FB1401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167DB6-B9AE-154A-0BF8-C4C6B414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99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90158B-C0FE-8C00-A9F5-41D6B307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C947-34AC-45B1-BE44-95D673E3D659}" type="datetime1">
              <a:rPr lang="ru-RU" smtClean="0"/>
              <a:t>27.05.2025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39EDE3-1D1C-4DF6-07CD-3E74CFEF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61653D-F819-352D-3894-94EB5534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408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0A825-ABC1-E473-AD16-3CF5539A2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CA6DD9-D151-8A76-B2B0-D62D0CBF6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240B98-EFE7-1C5B-82F8-286FD31A6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E068A4-2540-D63F-3DF7-395FC087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A4F8-C129-4826-BA6E-49EAEFB45050}" type="datetime1">
              <a:rPr lang="ru-RU" smtClean="0"/>
              <a:t>27.05.2025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16A0A9-AE6B-7688-6E7E-FF9B7642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70B42A-2E16-F601-B0C4-5299FE96B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83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D6BD8-FA79-70EA-BBBF-C26786DA5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E8C6EE-35AE-EF99-A705-25CBEFE22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EAF8F8-CAC0-4E8E-1FC9-11090201B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407782-01F8-B5C2-F868-001655D7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3657-914F-4996-A194-9E4ECCCEE22F}" type="datetime1">
              <a:rPr lang="ru-RU" smtClean="0"/>
              <a:t>27.05.2025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0C69D8-E53E-7D91-B521-F35F3432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B53854-B997-FBC4-59DA-3B191BEB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87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765C2-EA50-F309-9ECE-F92C20EB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AF68B8-6119-E759-6CF7-BAE629BAC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E9A345-26F1-5221-DD3A-9F31BBD5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C3E8-7311-4146-83F1-71B2A80B0540}" type="datetime1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7E21EE-EE85-8CA7-965C-4B88595F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B98C2-D679-C5AE-CD69-031DAC53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39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2FFB45F-7EEB-C5F6-8928-4E400CB00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61C066-3C3E-65F6-3747-F9947D2E1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6309CC-A14D-A56E-1DFB-04581FAF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8313C-F876-481B-A4E6-6B774F8BEB4E}" type="datetime1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73D369-ABD0-6B9D-5947-061A9CAED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B03374-4C85-425F-A376-CFBDEE70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732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9F236-6601-FB35-3DAC-51E1E9FB9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48EF0B-DEA1-A6F9-A1A2-FF03C3BC3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139DF0-CCA0-D150-E84F-FFB60EBD2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92414-01D7-49BC-AE0E-643CE3C1162D}" type="datetime1">
              <a:rPr lang="ru-RU" smtClean="0"/>
              <a:t>27.05.2025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D425D4-56E2-1DBC-D520-5083BC24D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1FB68B-FE86-ABE4-4395-0A1E737E3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D3D8-AFA8-4E5C-A630-CD238F89CD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0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4EE203A4-FA90-EED3-A37B-4FC2AC7A5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89" y="142875"/>
            <a:ext cx="1527111" cy="180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542A6D-F49F-DB68-E0A7-32F4BA1E6550}"/>
              </a:ext>
            </a:extLst>
          </p:cNvPr>
          <p:cNvSpPr txBox="1"/>
          <p:nvPr/>
        </p:nvSpPr>
        <p:spPr>
          <a:xfrm>
            <a:off x="2453640" y="467546"/>
            <a:ext cx="914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Федеральное государственное автономное образовательное учреждение высшего образования </a:t>
            </a:r>
          </a:p>
          <a:p>
            <a:pPr algn="ctr"/>
            <a:r>
              <a:rPr lang="ru-RU" dirty="0"/>
              <a:t>«</a:t>
            </a:r>
            <a:r>
              <a:rPr lang="ru-RU" dirty="0" err="1"/>
              <a:t>Московскии</a:t>
            </a:r>
            <a:r>
              <a:rPr lang="ru-RU" dirty="0"/>
              <a:t>̆ </a:t>
            </a:r>
            <a:r>
              <a:rPr lang="ru-RU" dirty="0" err="1"/>
              <a:t>государственныи</a:t>
            </a:r>
            <a:r>
              <a:rPr lang="ru-RU" dirty="0"/>
              <a:t>̆ </a:t>
            </a:r>
            <a:r>
              <a:rPr lang="ru-RU" dirty="0" err="1"/>
              <a:t>техническии</a:t>
            </a:r>
            <a:r>
              <a:rPr lang="ru-RU" dirty="0"/>
              <a:t>̆ университет имени Н.Э. Баумана </a:t>
            </a:r>
          </a:p>
          <a:p>
            <a:pPr algn="ctr"/>
            <a:r>
              <a:rPr lang="ru-RU" dirty="0"/>
              <a:t>(</a:t>
            </a:r>
            <a:r>
              <a:rPr lang="ru-RU" dirty="0" err="1"/>
              <a:t>национальныи</a:t>
            </a:r>
            <a:r>
              <a:rPr lang="ru-RU" dirty="0"/>
              <a:t>̆ </a:t>
            </a:r>
            <a:r>
              <a:rPr lang="ru-RU" dirty="0" err="1"/>
              <a:t>исследовательскии</a:t>
            </a:r>
            <a:r>
              <a:rPr lang="ru-RU" dirty="0"/>
              <a:t>̆ университет)»</a:t>
            </a:r>
          </a:p>
          <a:p>
            <a:pPr algn="ctr"/>
            <a:r>
              <a:rPr lang="ru-RU" dirty="0"/>
              <a:t> (МГТУ им. Н.Э. Баумана)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F6C85-F9B4-9517-3B44-80E777C7E183}"/>
              </a:ext>
            </a:extLst>
          </p:cNvPr>
          <p:cNvSpPr txBox="1"/>
          <p:nvPr/>
        </p:nvSpPr>
        <p:spPr>
          <a:xfrm>
            <a:off x="2269998" y="3213556"/>
            <a:ext cx="8090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Разработка базы данных спортивного зала</a:t>
            </a:r>
            <a:endParaRPr lang="ru-RU" sz="2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D2328-8F9A-AE59-A54E-F509E7A891D0}"/>
              </a:ext>
            </a:extLst>
          </p:cNvPr>
          <p:cNvSpPr txBox="1"/>
          <p:nvPr/>
        </p:nvSpPr>
        <p:spPr>
          <a:xfrm>
            <a:off x="530289" y="5117752"/>
            <a:ext cx="66386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Студент: Смирнов Пётр Ильич ИУ7-65Б </a:t>
            </a:r>
          </a:p>
          <a:p>
            <a:r>
              <a:rPr lang="ru-RU" dirty="0"/>
              <a:t>Научный руководитель: Никульшина Татьяна Александровна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0EEE43D-B95D-E432-B4C0-930D0378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CF744-D7B8-24CD-C371-725BB87A02CF}"/>
              </a:ext>
            </a:extLst>
          </p:cNvPr>
          <p:cNvSpPr txBox="1"/>
          <p:nvPr/>
        </p:nvSpPr>
        <p:spPr>
          <a:xfrm>
            <a:off x="5740488" y="6249981"/>
            <a:ext cx="71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452166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931BC05-21AB-AC96-FE01-058089A7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7ADA3-0069-3B62-197C-99261E9AEB0A}"/>
              </a:ext>
            </a:extLst>
          </p:cNvPr>
          <p:cNvSpPr txBox="1"/>
          <p:nvPr/>
        </p:nvSpPr>
        <p:spPr>
          <a:xfrm>
            <a:off x="377190" y="464558"/>
            <a:ext cx="60944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Цель и задачи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DE917-30B9-CADB-3E07-2CDBC24F4B07}"/>
              </a:ext>
            </a:extLst>
          </p:cNvPr>
          <p:cNvSpPr txBox="1"/>
          <p:nvPr/>
        </p:nvSpPr>
        <p:spPr>
          <a:xfrm>
            <a:off x="364236" y="1420727"/>
            <a:ext cx="10989564" cy="47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dirty="0"/>
              <a:t>Цель: разработать информационную систему, прикладные программы которой используют данные, хранящиеся в базе данных, для автоматизации деятельности спортивного зала.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04F10-B184-C3F1-903F-54E79888D2BA}"/>
              </a:ext>
            </a:extLst>
          </p:cNvPr>
          <p:cNvSpPr txBox="1"/>
          <p:nvPr/>
        </p:nvSpPr>
        <p:spPr>
          <a:xfrm>
            <a:off x="364236" y="1982301"/>
            <a:ext cx="10526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Задачи: 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проанализировать существующие решения;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спроектировать базу данных;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разработать базу данных и приложение доступа к базе данных;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исследовать влияние использования индексов на время выполнения запросов к базе данных .</a:t>
            </a:r>
          </a:p>
        </p:txBody>
      </p:sp>
    </p:spTree>
    <p:extLst>
      <p:ext uri="{BB962C8B-B14F-4D97-AF65-F5344CB8AC3E}">
        <p14:creationId xmlns:p14="http://schemas.microsoft.com/office/powerpoint/2010/main" val="591495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E68AFC4-8846-692B-E42B-B55C3E0E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B8ED7-84FE-76A0-7395-D60C4DB9BDAA}"/>
              </a:ext>
            </a:extLst>
          </p:cNvPr>
          <p:cNvSpPr txBox="1"/>
          <p:nvPr/>
        </p:nvSpPr>
        <p:spPr>
          <a:xfrm>
            <a:off x="413766" y="309110"/>
            <a:ext cx="95806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Анализ существующих решений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4D1A33D-F7E4-EF43-CA8E-BCAC13B16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801326"/>
              </p:ext>
            </p:extLst>
          </p:nvPr>
        </p:nvGraphicFramePr>
        <p:xfrm>
          <a:off x="435672" y="1142214"/>
          <a:ext cx="11320655" cy="48580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47669">
                  <a:extLst>
                    <a:ext uri="{9D8B030D-6E8A-4147-A177-3AD203B41FA5}">
                      <a16:colId xmlns:a16="http://schemas.microsoft.com/office/drawing/2014/main" val="486048230"/>
                    </a:ext>
                  </a:extLst>
                </a:gridCol>
                <a:gridCol w="1080593">
                  <a:extLst>
                    <a:ext uri="{9D8B030D-6E8A-4147-A177-3AD203B41FA5}">
                      <a16:colId xmlns:a16="http://schemas.microsoft.com/office/drawing/2014/main" val="4268805457"/>
                    </a:ext>
                  </a:extLst>
                </a:gridCol>
                <a:gridCol w="2264131">
                  <a:extLst>
                    <a:ext uri="{9D8B030D-6E8A-4147-A177-3AD203B41FA5}">
                      <a16:colId xmlns:a16="http://schemas.microsoft.com/office/drawing/2014/main" val="2428224991"/>
                    </a:ext>
                  </a:extLst>
                </a:gridCol>
                <a:gridCol w="2264131">
                  <a:extLst>
                    <a:ext uri="{9D8B030D-6E8A-4147-A177-3AD203B41FA5}">
                      <a16:colId xmlns:a16="http://schemas.microsoft.com/office/drawing/2014/main" val="2515531709"/>
                    </a:ext>
                  </a:extLst>
                </a:gridCol>
                <a:gridCol w="2264131">
                  <a:extLst>
                    <a:ext uri="{9D8B030D-6E8A-4147-A177-3AD203B41FA5}">
                      <a16:colId xmlns:a16="http://schemas.microsoft.com/office/drawing/2014/main" val="3950495357"/>
                    </a:ext>
                  </a:extLst>
                </a:gridCol>
              </a:tblGrid>
              <a:tr h="485788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0"/>
                        </a:spcBef>
                      </a:pPr>
                      <a:r>
                        <a:rPr lang="ru-RU" dirty="0"/>
                        <a:t>                                         Решение</a:t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0"/>
                        </a:spcBef>
                      </a:pPr>
                      <a:endParaRPr lang="ru-RU" dirty="0"/>
                    </a:p>
                    <a:p>
                      <a:pPr>
                        <a:lnSpc>
                          <a:spcPts val="1200"/>
                        </a:lnSpc>
                        <a:spcBef>
                          <a:spcPts val="0"/>
                        </a:spcBef>
                      </a:pPr>
                      <a:r>
                        <a:rPr lang="ru-RU" dirty="0"/>
                        <a:t>                                </a:t>
                      </a:r>
                      <a:r>
                        <a:rPr lang="en-US" dirty="0"/>
                        <a:t>\</a:t>
                      </a:r>
                      <a:endParaRPr lang="ru-RU" dirty="0"/>
                    </a:p>
                    <a:p>
                      <a:pPr>
                        <a:lnSpc>
                          <a:spcPts val="1200"/>
                        </a:lnSpc>
                        <a:spcBef>
                          <a:spcPts val="0"/>
                        </a:spcBef>
                      </a:pPr>
                      <a:endParaRPr lang="ru-RU" dirty="0"/>
                    </a:p>
                    <a:p>
                      <a:pPr>
                        <a:lnSpc>
                          <a:spcPts val="1200"/>
                        </a:lnSpc>
                        <a:spcBef>
                          <a:spcPts val="0"/>
                        </a:spcBef>
                      </a:pPr>
                      <a:r>
                        <a:rPr lang="ru-RU" dirty="0"/>
                        <a:t>Критерий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1С:Фитнес-клуб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Mobifitness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FitBase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Sport Priority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9115317"/>
                  </a:ext>
                </a:extLst>
              </a:tr>
              <a:tr h="568385">
                <a:tc>
                  <a:txBody>
                    <a:bodyPr/>
                    <a:lstStyle/>
                    <a:p>
                      <a:r>
                        <a:rPr lang="ru-RU" dirty="0"/>
                        <a:t>управление персоналом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4039196"/>
                  </a:ext>
                </a:extLst>
              </a:tr>
              <a:tr h="324791">
                <a:tc>
                  <a:txBody>
                    <a:bodyPr/>
                    <a:lstStyle/>
                    <a:p>
                      <a:r>
                        <a:rPr lang="ru-RU" dirty="0"/>
                        <a:t>учёт клиентов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2416815"/>
                  </a:ext>
                </a:extLst>
              </a:tr>
              <a:tr h="811979">
                <a:tc>
                  <a:txBody>
                    <a:bodyPr/>
                    <a:lstStyle/>
                    <a:p>
                      <a:r>
                        <a:rPr lang="ru-RU" dirty="0"/>
                        <a:t>управление графиком персонала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8741845"/>
                  </a:ext>
                </a:extLst>
              </a:tr>
              <a:tr h="1055572">
                <a:tc>
                  <a:txBody>
                    <a:bodyPr/>
                    <a:lstStyle/>
                    <a:p>
                      <a:r>
                        <a:rPr lang="ru-RU" dirty="0"/>
                        <a:t>возможность ведения клиентом персональной статистики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2015124"/>
                  </a:ext>
                </a:extLst>
              </a:tr>
              <a:tr h="811979">
                <a:tc>
                  <a:txBody>
                    <a:bodyPr/>
                    <a:lstStyle/>
                    <a:p>
                      <a:r>
                        <a:rPr lang="ru-RU" dirty="0"/>
                        <a:t>управление спортивными пространствами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5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управление тренировками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1584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851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диаграмма, Технический чертеж, Пла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64557A8-81CA-A395-90D6-1D6CC7CC9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884" y="299966"/>
            <a:ext cx="9720231" cy="6466543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6D7C765-AC21-CEEF-6ADC-55D4EEE6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4EC86-3C93-2431-87E3-8D9749D781F5}"/>
              </a:ext>
            </a:extLst>
          </p:cNvPr>
          <p:cNvSpPr txBox="1"/>
          <p:nvPr/>
        </p:nvSpPr>
        <p:spPr>
          <a:xfrm>
            <a:off x="349758" y="299966"/>
            <a:ext cx="60944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Диаграмма сущность-связь</a:t>
            </a:r>
          </a:p>
        </p:txBody>
      </p:sp>
    </p:spTree>
    <p:extLst>
      <p:ext uri="{BB962C8B-B14F-4D97-AF65-F5344CB8AC3E}">
        <p14:creationId xmlns:p14="http://schemas.microsoft.com/office/powerpoint/2010/main" val="186272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рисунок, зарисовка, диаграмма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EE86F76-97C4-2C35-2C99-EDF54CD38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338" y="571754"/>
            <a:ext cx="6458887" cy="6149721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1FFC915-0AB5-69AF-5111-F1B091F2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5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00B55-FD9D-2080-3468-8AB64A9B8B83}"/>
              </a:ext>
            </a:extLst>
          </p:cNvPr>
          <p:cNvSpPr txBox="1"/>
          <p:nvPr/>
        </p:nvSpPr>
        <p:spPr>
          <a:xfrm>
            <a:off x="524256" y="327398"/>
            <a:ext cx="100187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Диаграмма прецедентов</a:t>
            </a:r>
          </a:p>
        </p:txBody>
      </p:sp>
    </p:spTree>
    <p:extLst>
      <p:ext uri="{BB962C8B-B14F-4D97-AF65-F5344CB8AC3E}">
        <p14:creationId xmlns:p14="http://schemas.microsoft.com/office/powerpoint/2010/main" val="3708335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D5798BC-95BE-BE5A-2ADB-3D0D849A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7FC3C-ED22-29FA-8C0E-17864C3497AB}"/>
              </a:ext>
            </a:extLst>
          </p:cNvPr>
          <p:cNvSpPr txBox="1"/>
          <p:nvPr/>
        </p:nvSpPr>
        <p:spPr>
          <a:xfrm>
            <a:off x="322326" y="289483"/>
            <a:ext cx="80535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Схема функции записи клиента на тренировку</a:t>
            </a:r>
          </a:p>
        </p:txBody>
      </p:sp>
      <p:pic>
        <p:nvPicPr>
          <p:cNvPr id="5" name="Рисунок 4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A5FE33D-5D9E-A236-626F-5F11DB6AA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701" y="912941"/>
            <a:ext cx="6294597" cy="573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6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1716B60-1E5A-53EC-F9FE-02C38A23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68760-1F4C-4AFE-4CD1-3B90DD4B86BF}"/>
              </a:ext>
            </a:extLst>
          </p:cNvPr>
          <p:cNvSpPr txBox="1"/>
          <p:nvPr/>
        </p:nvSpPr>
        <p:spPr>
          <a:xfrm>
            <a:off x="322326" y="289483"/>
            <a:ext cx="80535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Схема функции получения специализаций тренера</a:t>
            </a:r>
          </a:p>
        </p:txBody>
      </p:sp>
      <p:pic>
        <p:nvPicPr>
          <p:cNvPr id="4" name="Рисунок 3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DB05980-D8CB-F595-A743-D70F9B456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912" y="766537"/>
            <a:ext cx="5129213" cy="58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13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0DEFDD0-8939-41C7-A9F2-67C9AB06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8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F1186-4987-FF15-124F-62CEA399BF4F}"/>
              </a:ext>
            </a:extLst>
          </p:cNvPr>
          <p:cNvSpPr txBox="1"/>
          <p:nvPr/>
        </p:nvSpPr>
        <p:spPr>
          <a:xfrm>
            <a:off x="322326" y="289483"/>
            <a:ext cx="97360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Схема функции получения доступных мероприятий для записи</a:t>
            </a:r>
          </a:p>
        </p:txBody>
      </p:sp>
      <p:pic>
        <p:nvPicPr>
          <p:cNvPr id="6" name="Рисунок 5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D860A8E-7F92-0969-D909-4F7C54105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425" y="815417"/>
            <a:ext cx="5057775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96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43808F8-0B2C-C6DC-BF99-12ECB443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0CC0C-78BD-3541-6951-A552205ECB1B}"/>
              </a:ext>
            </a:extLst>
          </p:cNvPr>
          <p:cNvSpPr txBox="1"/>
          <p:nvPr/>
        </p:nvSpPr>
        <p:spPr>
          <a:xfrm>
            <a:off x="258318" y="363974"/>
            <a:ext cx="72671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Результаты исследования - 1</a:t>
            </a:r>
            <a:endParaRPr lang="ru-RU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0DC5F8-56DC-E1F2-49B0-DCB3075B0664}"/>
              </a:ext>
            </a:extLst>
          </p:cNvPr>
          <p:cNvSpPr txBox="1"/>
          <p:nvPr/>
        </p:nvSpPr>
        <p:spPr>
          <a:xfrm>
            <a:off x="3960876" y="5956088"/>
            <a:ext cx="427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Исследование влияние </a:t>
            </a:r>
            <a:r>
              <a:rPr lang="en-US" dirty="0"/>
              <a:t>BTREE</a:t>
            </a:r>
            <a:r>
              <a:rPr lang="ru-RU" dirty="0"/>
              <a:t>-индекса</a:t>
            </a:r>
          </a:p>
        </p:txBody>
      </p:sp>
      <p:pic>
        <p:nvPicPr>
          <p:cNvPr id="5" name="Рисунок 4" descr="Изображение выглядит как текст, линия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650F19E-F87B-C925-B012-3A150A2D3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133" y="827097"/>
            <a:ext cx="8975734" cy="512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241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51C8CC0-E0C9-9A07-7725-49A30D11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10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B81016-AE88-7890-09B3-E4C4A829D942}"/>
              </a:ext>
            </a:extLst>
          </p:cNvPr>
          <p:cNvSpPr txBox="1"/>
          <p:nvPr/>
        </p:nvSpPr>
        <p:spPr>
          <a:xfrm>
            <a:off x="258318" y="363974"/>
            <a:ext cx="72671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Результаты исследования - 2</a:t>
            </a:r>
            <a:endParaRPr lang="ru-RU" sz="2500" dirty="0"/>
          </a:p>
        </p:txBody>
      </p:sp>
      <p:pic>
        <p:nvPicPr>
          <p:cNvPr id="5" name="Рисунок 4" descr="Изображение выглядит как текст, линия, График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85928EA-CA96-F9F1-0DAB-EDFD1DCC7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817" y="887194"/>
            <a:ext cx="8774430" cy="5013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C6811F-DC95-75DE-C3DB-68993A546DB2}"/>
              </a:ext>
            </a:extLst>
          </p:cNvPr>
          <p:cNvSpPr txBox="1"/>
          <p:nvPr/>
        </p:nvSpPr>
        <p:spPr>
          <a:xfrm>
            <a:off x="3960876" y="5956088"/>
            <a:ext cx="427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Исследование влияние </a:t>
            </a:r>
            <a:r>
              <a:rPr lang="en-US" dirty="0"/>
              <a:t>HASH</a:t>
            </a:r>
            <a:r>
              <a:rPr lang="ru-RU" dirty="0"/>
              <a:t>-индекса</a:t>
            </a:r>
          </a:p>
        </p:txBody>
      </p:sp>
    </p:spTree>
    <p:extLst>
      <p:ext uri="{BB962C8B-B14F-4D97-AF65-F5344CB8AC3E}">
        <p14:creationId xmlns:p14="http://schemas.microsoft.com/office/powerpoint/2010/main" val="2479001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D6E15A-F1A3-AC5D-6683-003F3935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11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D75D4F-975C-5494-4BDB-BE2E27D4FFA4}"/>
              </a:ext>
            </a:extLst>
          </p:cNvPr>
          <p:cNvSpPr txBox="1"/>
          <p:nvPr/>
        </p:nvSpPr>
        <p:spPr>
          <a:xfrm>
            <a:off x="258318" y="363974"/>
            <a:ext cx="72671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Результаты исследования - </a:t>
            </a:r>
            <a:r>
              <a:rPr lang="en-US" sz="2800" dirty="0"/>
              <a:t>3</a:t>
            </a:r>
            <a:endParaRPr lang="ru-RU" sz="2500" dirty="0"/>
          </a:p>
        </p:txBody>
      </p:sp>
      <p:pic>
        <p:nvPicPr>
          <p:cNvPr id="5" name="Рисунок 4" descr="Изображение выглядит как текст, линия, График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1472B42-BE5F-12CC-0907-E7AEEFCE6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955" y="887194"/>
            <a:ext cx="8332089" cy="47611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288B85-DBF8-B7FB-18F7-2EBC51457ABC}"/>
              </a:ext>
            </a:extLst>
          </p:cNvPr>
          <p:cNvSpPr txBox="1"/>
          <p:nvPr/>
        </p:nvSpPr>
        <p:spPr>
          <a:xfrm>
            <a:off x="4098798" y="5633037"/>
            <a:ext cx="3994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Исследование влияние </a:t>
            </a:r>
            <a:r>
              <a:rPr lang="en-US" dirty="0"/>
              <a:t>GIN</a:t>
            </a:r>
            <a:r>
              <a:rPr lang="ru-RU" dirty="0"/>
              <a:t>-индекса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6A250-356E-8F9F-4862-9BE5A8646F0A}"/>
              </a:ext>
            </a:extLst>
          </p:cNvPr>
          <p:cNvSpPr txBox="1"/>
          <p:nvPr/>
        </p:nvSpPr>
        <p:spPr>
          <a:xfrm>
            <a:off x="1337310" y="5970806"/>
            <a:ext cx="9516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Вывод: использование индексов значительно уменьшает время выполнения запросов, что особенно заметно на больших таблицах.</a:t>
            </a:r>
          </a:p>
        </p:txBody>
      </p:sp>
    </p:spTree>
    <p:extLst>
      <p:ext uri="{BB962C8B-B14F-4D97-AF65-F5344CB8AC3E}">
        <p14:creationId xmlns:p14="http://schemas.microsoft.com/office/powerpoint/2010/main" val="1896275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7EEC706-7DAF-6235-4983-41E3E7FA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12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EEEA7-B4D8-7CCB-7935-2829F2BD90A0}"/>
              </a:ext>
            </a:extLst>
          </p:cNvPr>
          <p:cNvSpPr txBox="1"/>
          <p:nvPr/>
        </p:nvSpPr>
        <p:spPr>
          <a:xfrm>
            <a:off x="313182" y="327398"/>
            <a:ext cx="60944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Заключение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5F1BD7-57BD-33C1-7FDD-0ED15CFB0839}"/>
              </a:ext>
            </a:extLst>
          </p:cNvPr>
          <p:cNvSpPr txBox="1"/>
          <p:nvPr/>
        </p:nvSpPr>
        <p:spPr>
          <a:xfrm>
            <a:off x="395478" y="1109764"/>
            <a:ext cx="10958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Цель курсовой работы была достигнута: разработано программное обеспечение с использованием</a:t>
            </a:r>
          </a:p>
          <a:p>
            <a:r>
              <a:rPr lang="ru-RU" dirty="0"/>
              <a:t>базы данных для автоматизации деятельности спортивного зала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A4130-25E0-BD82-41C4-AA668F2ADDEA}"/>
              </a:ext>
            </a:extLst>
          </p:cNvPr>
          <p:cNvSpPr txBox="1"/>
          <p:nvPr/>
        </p:nvSpPr>
        <p:spPr>
          <a:xfrm>
            <a:off x="395478" y="2136338"/>
            <a:ext cx="82821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Решены все поставленные задачи:</a:t>
            </a:r>
          </a:p>
          <a:p>
            <a:endParaRPr lang="ru-RU" dirty="0"/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проанализированы существующие решения;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спроектирована базу данных;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разработана базу данных и приложение доступа к базе данных;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исследовано влияние использования индексов на время выполнения запросов к базе данных .</a:t>
            </a:r>
          </a:p>
        </p:txBody>
      </p:sp>
    </p:spTree>
    <p:extLst>
      <p:ext uri="{BB962C8B-B14F-4D97-AF65-F5344CB8AC3E}">
        <p14:creationId xmlns:p14="http://schemas.microsoft.com/office/powerpoint/2010/main" val="3140019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5E6688D-9B83-5654-58FB-260337837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D3D8-AFA8-4E5C-A630-CD238F89CD9C}" type="slidenum">
              <a:rPr lang="ru-RU" smtClean="0"/>
              <a:t>13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A5859-6595-FFA8-7E76-8CE313C06B44}"/>
              </a:ext>
            </a:extLst>
          </p:cNvPr>
          <p:cNvSpPr txBox="1"/>
          <p:nvPr/>
        </p:nvSpPr>
        <p:spPr>
          <a:xfrm>
            <a:off x="313182" y="327398"/>
            <a:ext cx="60944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Направления дальнейшего развития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2699A-5C6F-1E40-3191-70214CB4CD8A}"/>
              </a:ext>
            </a:extLst>
          </p:cNvPr>
          <p:cNvSpPr txBox="1"/>
          <p:nvPr/>
        </p:nvSpPr>
        <p:spPr>
          <a:xfrm>
            <a:off x="468630" y="1151924"/>
            <a:ext cx="1014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рамках дальнейшего развития проекта предполагается реализация следующей функциональности:</a:t>
            </a:r>
          </a:p>
          <a:p>
            <a:endParaRPr lang="ru-RU" dirty="0"/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Разработка мобильного и десктопного приложений с графическим интерфейсом;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Добавление системы учёта платежей;</a:t>
            </a:r>
          </a:p>
          <a:p>
            <a:pPr marL="285750" indent="-285750">
              <a:buFont typeface="Aptos" panose="020B0004020202020204" pitchFamily="34" charset="0"/>
              <a:buChar char="—"/>
            </a:pPr>
            <a:r>
              <a:rPr lang="ru-RU" dirty="0"/>
              <a:t>Добавление блока продаж сопутствующих товаров.</a:t>
            </a:r>
          </a:p>
        </p:txBody>
      </p:sp>
    </p:spTree>
    <p:extLst>
      <p:ext uri="{BB962C8B-B14F-4D97-AF65-F5344CB8AC3E}">
        <p14:creationId xmlns:p14="http://schemas.microsoft.com/office/powerpoint/2010/main" val="24185349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335</Words>
  <Application>Microsoft Office PowerPoint</Application>
  <PresentationFormat>Широкоэкранный</PresentationFormat>
  <Paragraphs>96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Петр Смирнов</dc:creator>
  <cp:lastModifiedBy>Петр Смирнов</cp:lastModifiedBy>
  <cp:revision>12</cp:revision>
  <dcterms:created xsi:type="dcterms:W3CDTF">2024-12-12T22:00:57Z</dcterms:created>
  <dcterms:modified xsi:type="dcterms:W3CDTF">2025-05-27T18:01:21Z</dcterms:modified>
</cp:coreProperties>
</file>